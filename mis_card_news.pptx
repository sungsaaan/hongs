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FF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2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2A0B4-7A28-4391-9321-A426097D9705}" type="datetimeFigureOut">
              <a:rPr lang="ko-KR" altLang="en-US" smtClean="0"/>
              <a:t>2017-10-22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F3D9A-5185-4DCC-9389-EEAC55F58E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google.co.kr/url?sa=i&amp;rct=j&amp;q=&amp;esrc=s&amp;source=images&amp;cd=&amp;cad=rja&amp;uact=8&amp;ved=0ahUKEwjg9-Di3IPXAhUFipQKHTEjDx0QjRwIBw&amp;url=https%3A%2F%2Furbanmatter.com%2Fchicago%2Fchicagos-ultimate-halloween-guide%2F&amp;psig=AOvVaw2l137meVt3Y12Q8sTjPOpA&amp;ust=1508743954242907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google.co.kr/url?sa=i&amp;rct=j&amp;q=&amp;esrc=s&amp;source=images&amp;cd=&amp;cad=rja&amp;uact=8&amp;ved=0ahUKEwjc_OCh3IPXAhWMKJQKHUy_BpEQjRwIBw&amp;url=http%3A%2F%2Fwww.patheos.com%2Fblogs%2Fformerlyfundie%2Fhalloween%2F&amp;psig=AOvVaw2l137meVt3Y12Q8sTjPOpA&amp;ust=1508743954242907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google.co.kr/url?sa=i&amp;rct=j&amp;q=&amp;esrc=s&amp;source=images&amp;cd=&amp;cad=rja&amp;uact=8&amp;ved=0ahUKEwithLiI6YPXAhVKGZQKHVMSANUQjRwIBw&amp;url=http%3A%2F%2Fwww.jackolanternlouisville.com%2Fphoto-gallery&amp;psig=AOvVaw0vxBGHzcL6p3Ofu1y4qvfO&amp;ust=1508747628069068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hyperlink" Target="http://www.istockphoto.com/photos/trick-or-treat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://www.google.co.kr/url?sa=i&amp;rct=j&amp;q=&amp;esrc=s&amp;source=images&amp;cd=&amp;cad=rja&amp;uact=8&amp;ved=0ahUKEwip_aT-64PXAhUHnpQKHaUVChYQjRwIBw&amp;url=http%3A%2F%2Fwww.bestproducts.com%2Ffun-things-to-do%2Fa1292%2Fnyc-village-halloween-parade-guide%2F&amp;psig=AOvVaw0qaYbsGhFKmZCEMpsz9qBl&amp;ust=150874840154701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9" name="Picture 15" descr="halloween에 대한 이미지 검색결과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0"/>
            <a:ext cx="7200800" cy="6858000"/>
          </a:xfrm>
          <a:prstGeom prst="rect">
            <a:avLst/>
          </a:prstGeom>
          <a:noFill/>
        </p:spPr>
      </p:pic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1691680" y="1628800"/>
            <a:ext cx="5904656" cy="1719064"/>
          </a:xfrm>
          <a:solidFill>
            <a:schemeClr val="tx1">
              <a:lumMod val="95000"/>
              <a:lumOff val="5000"/>
              <a:alpha val="81000"/>
            </a:schemeClr>
          </a:solidFill>
        </p:spPr>
        <p:txBody>
          <a:bodyPr>
            <a:normAutofit fontScale="90000"/>
          </a:bodyPr>
          <a:lstStyle/>
          <a:p>
            <a:r>
              <a:rPr lang="ko-KR" altLang="en-US" sz="2800" b="1" dirty="0" smtClean="0">
                <a:solidFill>
                  <a:schemeClr val="bg1"/>
                </a:solidFill>
              </a:rPr>
              <a:t>   </a:t>
            </a:r>
            <a:r>
              <a:rPr lang="en-US" altLang="ko-KR" sz="2800" b="1" dirty="0" smtClean="0">
                <a:solidFill>
                  <a:schemeClr val="bg1"/>
                </a:solidFill>
              </a:rPr>
              <a:t>10/31</a:t>
            </a:r>
            <a:r>
              <a:rPr lang="en-US" altLang="ko-KR" sz="2800" b="1" dirty="0">
                <a:solidFill>
                  <a:schemeClr val="bg1"/>
                </a:solidFill>
              </a:rPr>
              <a:t/>
            </a:r>
            <a:br>
              <a:rPr lang="en-US" altLang="ko-KR" sz="2800" b="1" dirty="0">
                <a:solidFill>
                  <a:schemeClr val="bg1"/>
                </a:solidFill>
              </a:rPr>
            </a:br>
            <a:r>
              <a:rPr lang="ko-KR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ko-KR" sz="5300" dirty="0" smtClean="0">
                <a:solidFill>
                  <a:srgbClr val="FF0000"/>
                </a:solidFill>
                <a:latin typeface="Bernard MT Condensed" pitchFamily="18" charset="0"/>
                <a:ea typeface="HY엽서L" pitchFamily="18" charset="-127"/>
                <a:cs typeface="Adobe Naskh Medium" pitchFamily="50" charset="-78"/>
              </a:rPr>
              <a:t>“</a:t>
            </a:r>
            <a:r>
              <a:rPr lang="en-US" altLang="ko-KR" sz="5300" dirty="0" smtClean="0">
                <a:solidFill>
                  <a:srgbClr val="FF0000"/>
                </a:solidFill>
                <a:latin typeface="Cooper Black" pitchFamily="18" charset="0"/>
                <a:ea typeface="돋움" pitchFamily="50" charset="-127"/>
              </a:rPr>
              <a:t>Halloween</a:t>
            </a:r>
            <a:r>
              <a:rPr lang="en-US" altLang="ko-KR" sz="5300" dirty="0" smtClean="0">
                <a:solidFill>
                  <a:srgbClr val="FF0000"/>
                </a:solidFill>
                <a:latin typeface="Bernard MT Condensed" pitchFamily="18" charset="0"/>
                <a:ea typeface="HY엽서L" pitchFamily="18" charset="-127"/>
                <a:cs typeface="Adobe Naskh Medium" pitchFamily="50" charset="-78"/>
              </a:rPr>
              <a:t>” </a:t>
            </a:r>
            <a:r>
              <a:rPr lang="en-US" altLang="ko-KR" sz="2400" b="1" dirty="0" smtClean="0">
                <a:solidFill>
                  <a:schemeClr val="bg1"/>
                </a:solidFill>
              </a:rPr>
              <a:t/>
            </a:r>
            <a:br>
              <a:rPr lang="en-US" altLang="ko-KR" sz="2400" b="1" dirty="0" smtClean="0">
                <a:solidFill>
                  <a:schemeClr val="bg1"/>
                </a:solidFill>
              </a:rPr>
            </a:br>
            <a:r>
              <a:rPr lang="ko-KR" altLang="en-US" sz="2700" b="1" dirty="0" smtClean="0">
                <a:solidFill>
                  <a:schemeClr val="bg1"/>
                </a:solidFill>
              </a:rPr>
              <a:t>근데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600" dirty="0" smtClean="0">
                <a:solidFill>
                  <a:schemeClr val="bg1"/>
                </a:solidFill>
                <a:latin typeface="+mn-ea"/>
                <a:ea typeface="+mn-ea"/>
                <a:cs typeface="Adobe Naskh Medium" pitchFamily="50" charset="-78"/>
              </a:rPr>
              <a:t>Halloween</a:t>
            </a:r>
            <a:r>
              <a:rPr lang="en-US" altLang="ko-KR" dirty="0" smtClean="0">
                <a:solidFill>
                  <a:srgbClr val="FFFF00"/>
                </a:solidFill>
                <a:latin typeface="Bernard MT Condensed" pitchFamily="18" charset="0"/>
                <a:ea typeface="HY엽서L" pitchFamily="18" charset="-127"/>
                <a:cs typeface="Adobe Naskh Medium" pitchFamily="50" charset="-78"/>
              </a:rPr>
              <a:t> </a:t>
            </a:r>
            <a:r>
              <a:rPr lang="ko-KR" altLang="en-US" sz="2800" b="1" dirty="0" smtClean="0">
                <a:solidFill>
                  <a:schemeClr val="bg1"/>
                </a:solidFill>
              </a:rPr>
              <a:t>이 뭐지</a:t>
            </a:r>
            <a:r>
              <a:rPr lang="en-US" altLang="ko-KR" sz="2800" b="1" dirty="0" smtClean="0">
                <a:solidFill>
                  <a:schemeClr val="bg1"/>
                </a:solidFill>
              </a:rPr>
              <a:t>?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11268" name="AutoShape 4" descr="halloween에 대한 이미지 검색결과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53975" y="-852488"/>
            <a:ext cx="2571750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0" name="AutoShape 6" descr="halloween에 대한 이미지 검색결과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53975" y="-852488"/>
            <a:ext cx="2571750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2" name="AutoShape 8" descr="halloween에 대한 이미지 검색결과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53975" y="-852488"/>
            <a:ext cx="2571750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4" name="AutoShape 10" descr="halloween에 대한 이미지 검색결과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53975" y="-852488"/>
            <a:ext cx="2571750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276" name="AutoShape 12" descr="halloween에 대한 이미지 검색결과">
            <a:hlinkClick r:id="rId4"/>
          </p:cNvPr>
          <p:cNvSpPr>
            <a:spLocks noChangeAspect="1" noChangeArrowheads="1"/>
          </p:cNvSpPr>
          <p:nvPr/>
        </p:nvSpPr>
        <p:spPr bwMode="auto">
          <a:xfrm>
            <a:off x="53975" y="-852488"/>
            <a:ext cx="2571750" cy="17811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348880"/>
            <a:ext cx="9144000" cy="1143000"/>
          </a:xfrm>
        </p:spPr>
        <p:txBody>
          <a:bodyPr>
            <a:normAutofit/>
          </a:bodyPr>
          <a:lstStyle/>
          <a:p>
            <a:r>
              <a:rPr lang="en-US" altLang="ko-KR" sz="5400" dirty="0" smtClean="0">
                <a:solidFill>
                  <a:srgbClr val="FF0000"/>
                </a:solidFill>
                <a:latin typeface="Cooper Black" pitchFamily="18" charset="0"/>
                <a:ea typeface="돋움" pitchFamily="50" charset="-127"/>
              </a:rPr>
              <a:t>Halloween</a:t>
            </a:r>
            <a:endParaRPr lang="ko-KR" altLang="en-US" sz="5400" dirty="0">
              <a:solidFill>
                <a:srgbClr val="FF0000"/>
              </a:solidFill>
              <a:latin typeface="Cooper Black" pitchFamily="18" charset="0"/>
              <a:ea typeface="돋움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3717032"/>
            <a:ext cx="8712968" cy="10801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:</a:t>
            </a:r>
            <a:r>
              <a:rPr lang="ko-KR" altLang="en-US" dirty="0" smtClean="0">
                <a:solidFill>
                  <a:schemeClr val="bg1"/>
                </a:solidFill>
              </a:rPr>
              <a:t>미국 전역에서 매년 </a:t>
            </a:r>
            <a:r>
              <a:rPr lang="en-US" altLang="ko-KR" dirty="0" smtClean="0">
                <a:solidFill>
                  <a:schemeClr val="bg1"/>
                </a:solidFill>
              </a:rPr>
              <a:t>10</a:t>
            </a:r>
            <a:r>
              <a:rPr lang="ko-KR" altLang="en-US" dirty="0" smtClean="0">
                <a:solidFill>
                  <a:schemeClr val="bg1"/>
                </a:solidFill>
              </a:rPr>
              <a:t>월 </a:t>
            </a:r>
            <a:r>
              <a:rPr lang="en-US" altLang="ko-KR" dirty="0" smtClean="0">
                <a:solidFill>
                  <a:schemeClr val="bg1"/>
                </a:solidFill>
              </a:rPr>
              <a:t>31</a:t>
            </a:r>
            <a:r>
              <a:rPr lang="ko-KR" altLang="en-US" dirty="0" smtClean="0">
                <a:solidFill>
                  <a:schemeClr val="bg1"/>
                </a:solidFill>
              </a:rPr>
              <a:t>일 유령이나 괴물 분장을 하고 즐기는 축제</a:t>
            </a:r>
            <a:endParaRPr lang="en-US" altLang="ko-KR" dirty="0" smtClean="0">
              <a:solidFill>
                <a:schemeClr val="bg1"/>
              </a:solidFill>
            </a:endParaRPr>
          </a:p>
          <a:p>
            <a:pPr algn="ctr"/>
            <a:endParaRPr lang="en-US" altLang="ko-KR" dirty="0" smtClean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267744" y="5733256"/>
            <a:ext cx="4608512" cy="90872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</a:rPr>
              <a:t>*</a:t>
            </a:r>
            <a:r>
              <a:rPr lang="en-US" altLang="ko-KR" dirty="0" smtClean="0"/>
              <a:t>Halloween</a:t>
            </a:r>
            <a:r>
              <a:rPr lang="ko-KR" altLang="en-US" dirty="0" smtClean="0"/>
              <a:t>은 만성절 전야제를 뜻하는 </a:t>
            </a:r>
            <a:r>
              <a:rPr lang="en-US" altLang="ko-KR" dirty="0" smtClean="0"/>
              <a:t>All Hallows’ Eve</a:t>
            </a:r>
            <a:r>
              <a:rPr lang="ko-KR" altLang="en-US" dirty="0" smtClean="0"/>
              <a:t>가 줄어든 말이다</a:t>
            </a:r>
            <a:r>
              <a:rPr lang="en-US" altLang="ko-KR" dirty="0" smtClean="0"/>
              <a:t>.</a:t>
            </a:r>
            <a:endParaRPr lang="ko-KR" altLang="en-US" dirty="0" smtClean="0">
              <a:solidFill>
                <a:schemeClr val="bg1"/>
              </a:solidFill>
            </a:endParaRPr>
          </a:p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 descr="C:\Users\洪至海\Desktop\sdbsc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0"/>
            <a:ext cx="7272807" cy="6858000"/>
          </a:xfrm>
          <a:prstGeom prst="rect">
            <a:avLst/>
          </a:prstGeom>
          <a:noFill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1600" y="1484784"/>
            <a:ext cx="7272808" cy="1143000"/>
          </a:xfrm>
          <a:solidFill>
            <a:schemeClr val="tx1">
              <a:alpha val="27000"/>
            </a:schemeClr>
          </a:solidFill>
        </p:spPr>
        <p:txBody>
          <a:bodyPr>
            <a:normAutofit/>
          </a:bodyPr>
          <a:lstStyle/>
          <a:p>
            <a:r>
              <a:rPr lang="en-US" altLang="ko-KR" sz="3600" dirty="0" smtClean="0">
                <a:solidFill>
                  <a:srgbClr val="FFFF00"/>
                </a:solidFill>
                <a:latin typeface="a옛날목욕탕L" pitchFamily="18" charset="-127"/>
                <a:ea typeface="a옛날목욕탕L" pitchFamily="18" charset="-127"/>
              </a:rPr>
              <a:t>“Halloween”</a:t>
            </a:r>
            <a:r>
              <a:rPr lang="ko-KR" altLang="en-US" sz="3600" b="1" dirty="0" smtClean="0">
                <a:solidFill>
                  <a:schemeClr val="bg1"/>
                </a:solidFill>
              </a:rPr>
              <a:t>에는 뭐하지</a:t>
            </a:r>
            <a:r>
              <a:rPr lang="en-US" altLang="ko-KR" sz="3600" b="1" dirty="0" smtClean="0">
                <a:solidFill>
                  <a:schemeClr val="bg1"/>
                </a:solidFill>
              </a:rPr>
              <a:t>?</a:t>
            </a:r>
            <a:endParaRPr lang="ko-KR" altLang="en-US" sz="3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jack o lantern에 대한 이미지 검색결과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5140602" cy="302433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직사각형 4"/>
          <p:cNvSpPr/>
          <p:nvPr/>
        </p:nvSpPr>
        <p:spPr>
          <a:xfrm>
            <a:off x="5220072" y="260648"/>
            <a:ext cx="2952328" cy="10081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FFFF00"/>
                </a:solidFill>
                <a:latin typeface="휴먼둥근헤드라인" pitchFamily="18" charset="-127"/>
                <a:ea typeface="휴먼둥근헤드라인" pitchFamily="18" charset="-127"/>
              </a:rPr>
              <a:t>1. Jack-O’-Lantern</a:t>
            </a:r>
            <a:endParaRPr lang="ko-KR" altLang="en-US" dirty="0">
              <a:solidFill>
                <a:srgbClr val="FFFF00"/>
              </a:solidFill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292080" y="980728"/>
            <a:ext cx="3528392" cy="1656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:</a:t>
            </a:r>
            <a:r>
              <a:rPr lang="en-US" altLang="ko-KR" dirty="0" smtClean="0">
                <a:solidFill>
                  <a:srgbClr val="FFFF00"/>
                </a:solidFill>
                <a:latin typeface="휴먼둥근헤드라인" pitchFamily="18" charset="-127"/>
                <a:ea typeface="휴먼둥근헤드라인" pitchFamily="18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Jack-O’-Lantern 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Halloween</a:t>
            </a:r>
            <a:r>
              <a:rPr lang="ko-KR" altLang="en-US" dirty="0" smtClean="0"/>
              <a:t>을 대표하는 상징물</a:t>
            </a:r>
            <a:r>
              <a:rPr lang="en-US" altLang="ko-KR" dirty="0" smtClean="0"/>
              <a:t>, </a:t>
            </a:r>
            <a:r>
              <a:rPr lang="ko-KR" altLang="en-US" dirty="0" smtClean="0"/>
              <a:t>커다란 주황색 호박의 속을 파내어 악마의 얼굴 형상으로 만든다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5364" name="Picture 4" descr="trick or treat에 대한 이미지 검색결과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2996952"/>
            <a:ext cx="4716016" cy="30963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직사각형 9"/>
          <p:cNvSpPr/>
          <p:nvPr/>
        </p:nvSpPr>
        <p:spPr>
          <a:xfrm>
            <a:off x="0" y="3789040"/>
            <a:ext cx="2952328" cy="100811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FF00"/>
                </a:solidFill>
                <a:latin typeface="휴먼둥근헤드라인" pitchFamily="18" charset="-127"/>
                <a:ea typeface="휴먼둥근헤드라인" pitchFamily="18" charset="-127"/>
              </a:rPr>
              <a:t>2</a:t>
            </a:r>
            <a:r>
              <a:rPr lang="en-US" altLang="ko-KR" dirty="0" smtClean="0">
                <a:solidFill>
                  <a:srgbClr val="FFFF00"/>
                </a:solidFill>
                <a:latin typeface="휴먼둥근헤드라인" pitchFamily="18" charset="-127"/>
                <a:ea typeface="휴먼둥근헤드라인" pitchFamily="18" charset="-127"/>
              </a:rPr>
              <a:t>. Trick or treat</a:t>
            </a:r>
            <a:endParaRPr lang="ko-KR" altLang="en-US" dirty="0">
              <a:solidFill>
                <a:srgbClr val="FFFF00"/>
              </a:solidFill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51520" y="4509120"/>
            <a:ext cx="3528392" cy="1656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:</a:t>
            </a:r>
            <a:r>
              <a:rPr lang="en-US" altLang="ko-KR" dirty="0" smtClean="0">
                <a:solidFill>
                  <a:srgbClr val="FFFF00"/>
                </a:solidFill>
                <a:latin typeface="휴먼둥근헤드라인" pitchFamily="18" charset="-127"/>
                <a:ea typeface="휴먼둥근헤드라인" pitchFamily="18" charset="-127"/>
              </a:rPr>
              <a:t> </a:t>
            </a:r>
            <a:r>
              <a:rPr lang="en-US" altLang="ko-KR" dirty="0" smtClean="0">
                <a:solidFill>
                  <a:schemeClr val="bg1"/>
                </a:solidFill>
                <a:latin typeface="휴먼둥근헤드라인" pitchFamily="18" charset="-127"/>
                <a:ea typeface="휴먼둥근헤드라인" pitchFamily="18" charset="-127"/>
              </a:rPr>
              <a:t>Halloween </a:t>
            </a:r>
            <a:r>
              <a:rPr lang="ko-KR" altLang="en-US" dirty="0" smtClean="0">
                <a:solidFill>
                  <a:schemeClr val="bg1"/>
                </a:solidFill>
                <a:latin typeface="+mn-ea"/>
              </a:rPr>
              <a:t>저녁이 되면 유령과 해골로 분장한 아이들이 집집마다 돌아다니며 맛있는 간식을 달라고 으름장을 놓는 장난을 치는데 이 때 외치는 말이 </a:t>
            </a:r>
            <a:r>
              <a:rPr lang="en-US" altLang="ko-KR" dirty="0" smtClean="0">
                <a:solidFill>
                  <a:schemeClr val="bg1"/>
                </a:solidFill>
                <a:latin typeface="+mn-ea"/>
              </a:rPr>
              <a:t>“Trick or treat”</a:t>
            </a:r>
            <a:r>
              <a:rPr lang="ko-KR" altLang="en-US" dirty="0" smtClean="0">
                <a:solidFill>
                  <a:schemeClr val="bg1"/>
                </a:solidFill>
                <a:latin typeface="+mn-ea"/>
              </a:rPr>
              <a:t>이다</a:t>
            </a:r>
            <a:r>
              <a:rPr lang="en-US" altLang="ko-KR" dirty="0" smtClean="0">
                <a:solidFill>
                  <a:schemeClr val="bg1"/>
                </a:solidFill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halloween parade에 대한 이미지 검색결과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692696"/>
            <a:ext cx="7063138" cy="41764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764704"/>
          </a:xfrm>
        </p:spPr>
        <p:txBody>
          <a:bodyPr>
            <a:normAutofit/>
          </a:bodyPr>
          <a:lstStyle/>
          <a:p>
            <a:r>
              <a:rPr lang="en-US" altLang="ko-KR" sz="2400" dirty="0" smtClean="0">
                <a:solidFill>
                  <a:srgbClr val="FFFF00"/>
                </a:solidFill>
                <a:latin typeface="휴먼둥근헤드라인" pitchFamily="18" charset="-127"/>
                <a:ea typeface="휴먼둥근헤드라인" pitchFamily="18" charset="-127"/>
              </a:rPr>
              <a:t>3.Halloween Parade</a:t>
            </a:r>
            <a:endParaRPr lang="ko-KR" altLang="en-US" sz="2400" dirty="0">
              <a:solidFill>
                <a:srgbClr val="FFFF00"/>
              </a:solidFill>
              <a:latin typeface="휴먼둥근헤드라인" pitchFamily="18" charset="-127"/>
              <a:ea typeface="휴먼둥근헤드라인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4941168"/>
            <a:ext cx="9144000" cy="19168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휴먼둥근헤드라인" pitchFamily="18" charset="-127"/>
                <a:ea typeface="휴먼둥근헤드라인" pitchFamily="18" charset="-127"/>
              </a:rPr>
              <a:t>:</a:t>
            </a:r>
            <a:r>
              <a:rPr lang="en-US" altLang="ko-KR" dirty="0" smtClean="0">
                <a:latin typeface="휴먼둥근헤드라인" pitchFamily="18" charset="-127"/>
                <a:ea typeface="휴먼둥근헤드라인" pitchFamily="18" charset="-127"/>
              </a:rPr>
              <a:t>Halloween Parade</a:t>
            </a:r>
            <a:r>
              <a:rPr lang="ko-KR" altLang="en-US" dirty="0" smtClean="0">
                <a:latin typeface="+mn-ea"/>
              </a:rPr>
              <a:t>는 </a:t>
            </a:r>
            <a:r>
              <a:rPr lang="ko-KR" altLang="en-US" dirty="0" smtClean="0"/>
              <a:t>다양한 배경을 가진 참가자들이 각자 모국의 전통적인 악령이나 귀신 캐릭터 분장을 선보이고</a:t>
            </a:r>
            <a:r>
              <a:rPr lang="en-US" altLang="ko-KR" dirty="0" smtClean="0"/>
              <a:t>,</a:t>
            </a:r>
            <a:r>
              <a:rPr lang="ko-KR" altLang="en-US" dirty="0"/>
              <a:t> </a:t>
            </a:r>
            <a:r>
              <a:rPr lang="ko-KR" altLang="en-US" dirty="0" smtClean="0"/>
              <a:t>여러 무용가</a:t>
            </a:r>
            <a:r>
              <a:rPr lang="en-US" altLang="ko-KR" dirty="0" smtClean="0"/>
              <a:t>,</a:t>
            </a:r>
            <a:r>
              <a:rPr lang="ko-KR" altLang="en-US" dirty="0" smtClean="0"/>
              <a:t>예술가</a:t>
            </a:r>
            <a:r>
              <a:rPr lang="en-US" altLang="ko-KR" dirty="0" smtClean="0"/>
              <a:t>,</a:t>
            </a:r>
            <a:r>
              <a:rPr lang="ko-KR" altLang="en-US" dirty="0" smtClean="0"/>
              <a:t>서커스단이 참여해 볼거리를 더하는 축제이다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 가운데 가장 유명한 것이 </a:t>
            </a:r>
            <a:r>
              <a:rPr lang="en-US" altLang="ko-KR" dirty="0" smtClean="0"/>
              <a:t>New York’s Village Halloween Parade</a:t>
            </a:r>
            <a:r>
              <a:rPr lang="ko-KR" altLang="en-US" dirty="0" smtClean="0"/>
              <a:t>다</a:t>
            </a:r>
            <a:r>
              <a:rPr lang="en-US" altLang="ko-KR" dirty="0" smtClean="0"/>
              <a:t>. 1974</a:t>
            </a:r>
            <a:r>
              <a:rPr lang="ko-KR" altLang="en-US" dirty="0" smtClean="0"/>
              <a:t>년 인형 조종</a:t>
            </a:r>
            <a:r>
              <a:rPr lang="ko-KR" altLang="en-US" dirty="0"/>
              <a:t>사</a:t>
            </a:r>
            <a:r>
              <a:rPr lang="ko-KR" altLang="en-US" dirty="0" smtClean="0"/>
              <a:t>이자 가면 제작자인 </a:t>
            </a:r>
            <a:r>
              <a:rPr lang="en-US" altLang="ko-KR" dirty="0" smtClean="0"/>
              <a:t>Ralph Lee</a:t>
            </a:r>
            <a:r>
              <a:rPr lang="ko-KR" altLang="en-US" dirty="0" smtClean="0"/>
              <a:t>에 의해 창설된 이 </a:t>
            </a:r>
            <a:r>
              <a:rPr lang="en-US" altLang="ko-KR" dirty="0" smtClean="0"/>
              <a:t>parade</a:t>
            </a:r>
            <a:r>
              <a:rPr lang="ko-KR" altLang="en-US" dirty="0" smtClean="0"/>
              <a:t>에는 매년 </a:t>
            </a:r>
            <a:r>
              <a:rPr lang="en-US" altLang="ko-KR" dirty="0" smtClean="0"/>
              <a:t>6</a:t>
            </a:r>
            <a:r>
              <a:rPr lang="ko-KR" altLang="en-US" dirty="0" smtClean="0"/>
              <a:t>천 명 이상의 참가자와 </a:t>
            </a:r>
            <a:r>
              <a:rPr lang="en-US" altLang="ko-KR" dirty="0" smtClean="0"/>
              <a:t>2</a:t>
            </a:r>
            <a:r>
              <a:rPr lang="ko-KR" altLang="en-US" dirty="0" smtClean="0"/>
              <a:t>백만 명이 넘는 관람객이 몰린다</a:t>
            </a:r>
            <a:r>
              <a:rPr lang="en-US" altLang="ko-KR" dirty="0" smtClean="0"/>
              <a:t>.</a:t>
            </a:r>
          </a:p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solidFill>
            <a:srgbClr val="FFFF00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sz="3200" dirty="0" smtClean="0">
                <a:latin typeface="DX경필고딕B" pitchFamily="2" charset="-127"/>
                <a:ea typeface="DX경필고딕B" pitchFamily="2" charset="-127"/>
              </a:rPr>
              <a:t>Halloween</a:t>
            </a:r>
            <a:r>
              <a:rPr lang="ko-KR" altLang="en-US" sz="3200" dirty="0" smtClean="0">
                <a:latin typeface="DX경필고딕B" pitchFamily="2" charset="-127"/>
                <a:ea typeface="DX경필고딕B" pitchFamily="2" charset="-127"/>
              </a:rPr>
              <a:t>은 어디서 시작됐을까</a:t>
            </a:r>
            <a:r>
              <a:rPr lang="en-US" altLang="ko-KR" sz="3200" dirty="0" smtClean="0">
                <a:latin typeface="DX경필고딕B" pitchFamily="2" charset="-127"/>
                <a:ea typeface="DX경필고딕B" pitchFamily="2" charset="-127"/>
              </a:rPr>
              <a:t>?</a:t>
            </a:r>
            <a:endParaRPr lang="ko-KR" altLang="en-US" sz="3200" dirty="0">
              <a:latin typeface="DX경필고딕B" pitchFamily="2" charset="-127"/>
              <a:ea typeface="DX경필고딕B" pitchFamily="2" charset="-127"/>
            </a:endParaRPr>
          </a:p>
        </p:txBody>
      </p:sp>
      <p:pic>
        <p:nvPicPr>
          <p:cNvPr id="19458" name="Picture 2" descr="핼러윈의 상징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44824"/>
            <a:ext cx="5659413" cy="4032448"/>
          </a:xfrm>
          <a:prstGeom prst="rect">
            <a:avLst/>
          </a:prstGeom>
          <a:noFill/>
        </p:spPr>
      </p:pic>
      <p:sp>
        <p:nvSpPr>
          <p:cNvPr id="5" name="직사각형 4"/>
          <p:cNvSpPr/>
          <p:nvPr/>
        </p:nvSpPr>
        <p:spPr>
          <a:xfrm>
            <a:off x="5652120" y="1556792"/>
            <a:ext cx="3491880" cy="508518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/>
              <a:t>Halloween</a:t>
            </a:r>
            <a:r>
              <a:rPr lang="ko-KR" altLang="en-US" sz="1600" dirty="0" smtClean="0"/>
              <a:t>은 고대 켈트족</a:t>
            </a:r>
            <a:r>
              <a:rPr lang="en-US" altLang="ko-KR" sz="1600" dirty="0" smtClean="0"/>
              <a:t>(Celts)</a:t>
            </a:r>
            <a:r>
              <a:rPr lang="ko-KR" altLang="en-US" sz="1600" dirty="0" smtClean="0"/>
              <a:t>이 한 해의 마지막 날 치른 사윈 축제에 뿌리를 두고 있다고 전한다</a:t>
            </a:r>
            <a:r>
              <a:rPr lang="en-US" altLang="ko-KR" sz="1600" dirty="0" smtClean="0"/>
              <a:t>. Celts</a:t>
            </a:r>
            <a:r>
              <a:rPr lang="ko-KR" altLang="en-US" sz="1600" dirty="0" smtClean="0"/>
              <a:t>들은 일 년이 열 달로 이뤄진 달력을 사용했으며 한 해를 네 개의 기념일로 구분했다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이 가운데 가장 중요한 것이 한 해의 마지막과 새해의 시작을 알리는 </a:t>
            </a:r>
            <a:r>
              <a:rPr lang="en-US" altLang="ko-KR" sz="1600" dirty="0" smtClean="0"/>
              <a:t>10</a:t>
            </a:r>
            <a:r>
              <a:rPr lang="ko-KR" altLang="en-US" sz="1600" dirty="0" smtClean="0"/>
              <a:t>월 </a:t>
            </a:r>
            <a:r>
              <a:rPr lang="en-US" altLang="ko-KR" sz="1600" dirty="0" smtClean="0"/>
              <a:t>31</a:t>
            </a:r>
            <a:r>
              <a:rPr lang="ko-KR" altLang="en-US" sz="1600" dirty="0" smtClean="0"/>
              <a:t>일의 사윈 축제였다</a:t>
            </a:r>
            <a:r>
              <a:rPr lang="en-US" altLang="ko-KR" sz="1600" dirty="0" smtClean="0"/>
              <a:t>.</a:t>
            </a:r>
          </a:p>
          <a:p>
            <a:r>
              <a:rPr lang="ko-KR" altLang="en-US" sz="1600" dirty="0" smtClean="0"/>
              <a:t>사윈 기간이 되면 켈트 족은 방목해 기르던 가축을 불러들이고 농작물을 거둬들이며 새해맞이 준비를 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이날은 죽은 자들의 영혼이 내세로 여행을 떠나기 위해 인간 세계를 찾는 날이기도 했는데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사람들은 이때 열린 지하 세계의 문을 통해 악마와 마녀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짓궂은 유령들도 함께 올라온다고 믿었다</a:t>
            </a:r>
            <a:r>
              <a:rPr lang="en-US" altLang="ko-KR" sz="1600" dirty="0" smtClean="0"/>
              <a:t>.</a:t>
            </a:r>
          </a:p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6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71600" y="1556792"/>
            <a:ext cx="7200800" cy="3744416"/>
          </a:xfrm>
          <a:solidFill>
            <a:schemeClr val="tx1">
              <a:alpha val="80000"/>
            </a:schemeClr>
          </a:solidFill>
        </p:spPr>
        <p:txBody>
          <a:bodyPr>
            <a:normAutofit/>
          </a:bodyPr>
          <a:lstStyle/>
          <a:p>
            <a:r>
              <a:rPr lang="ko-KR" altLang="en-US" sz="3600" dirty="0" smtClean="0">
                <a:solidFill>
                  <a:srgbClr val="FFFF00"/>
                </a:solidFill>
                <a:latin typeface="DX경필고딕B" pitchFamily="2" charset="-127"/>
                <a:ea typeface="DX경필고딕B" pitchFamily="2" charset="-127"/>
              </a:rPr>
              <a:t>국내에는 무슨 축제가 있을까</a:t>
            </a:r>
            <a:r>
              <a:rPr lang="en-US" altLang="ko-KR" sz="3600" dirty="0" smtClean="0">
                <a:solidFill>
                  <a:srgbClr val="FFFF00"/>
                </a:solidFill>
                <a:latin typeface="DX경필고딕B" pitchFamily="2" charset="-127"/>
                <a:ea typeface="DX경필고딕B" pitchFamily="2" charset="-127"/>
              </a:rPr>
              <a:t>?</a:t>
            </a:r>
            <a:endParaRPr lang="ko-KR" altLang="en-US" sz="3600" dirty="0">
              <a:solidFill>
                <a:srgbClr val="FFFF00"/>
              </a:solidFill>
              <a:latin typeface="DX경필고딕B" pitchFamily="2" charset="-127"/>
              <a:ea typeface="DX경필고딕B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>
            <a:alpha val="67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599" y="188640"/>
            <a:ext cx="6048673" cy="244827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5" y="2132856"/>
            <a:ext cx="5740243" cy="266429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048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4221088"/>
            <a:ext cx="5544616" cy="2448272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99592" y="692696"/>
            <a:ext cx="7211144" cy="5458618"/>
          </a:xfrm>
          <a:solidFill>
            <a:schemeClr val="tx1">
              <a:alpha val="80000"/>
            </a:schemeClr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altLang="ko-KR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</a:rPr>
              <a:t>10/26 </a:t>
            </a:r>
            <a:r>
              <a:rPr lang="ko-KR" altLang="en-US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</a:rPr>
              <a:t>중간고사 시험 끝나고 </a:t>
            </a:r>
            <a:r>
              <a:rPr lang="en-US" altLang="ko-KR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</a:rPr>
              <a:t/>
            </a:r>
            <a:br>
              <a:rPr lang="en-US" altLang="ko-KR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</a:rPr>
            </a:br>
            <a:r>
              <a:rPr lang="en-US" altLang="ko-KR" sz="4000" dirty="0" smtClean="0">
                <a:solidFill>
                  <a:srgbClr val="FF0000"/>
                </a:solidFill>
                <a:latin typeface="Bernard MT Condensed" pitchFamily="18" charset="0"/>
                <a:ea typeface="HY엽서L" pitchFamily="18" charset="-127"/>
                <a:cs typeface="Adobe Naskh Medium" pitchFamily="50" charset="-78"/>
              </a:rPr>
              <a:t> “</a:t>
            </a:r>
            <a:r>
              <a:rPr lang="en-US" altLang="ko-KR" sz="4000" dirty="0" smtClean="0">
                <a:solidFill>
                  <a:srgbClr val="FF0000"/>
                </a:solidFill>
                <a:latin typeface="Cooper Black" pitchFamily="18" charset="0"/>
                <a:ea typeface="돋움" pitchFamily="50" charset="-127"/>
              </a:rPr>
              <a:t>Halloween</a:t>
            </a:r>
            <a:r>
              <a:rPr lang="en-US" altLang="ko-KR" sz="4000" dirty="0" smtClean="0">
                <a:solidFill>
                  <a:srgbClr val="FF0000"/>
                </a:solidFill>
                <a:latin typeface="Bernard MT Condensed" pitchFamily="18" charset="0"/>
                <a:ea typeface="HY엽서L" pitchFamily="18" charset="-127"/>
                <a:cs typeface="Adobe Naskh Medium" pitchFamily="50" charset="-78"/>
              </a:rPr>
              <a:t>” </a:t>
            </a:r>
            <a:br>
              <a:rPr lang="en-US" altLang="ko-KR" sz="4000" dirty="0" smtClean="0">
                <a:solidFill>
                  <a:srgbClr val="FF0000"/>
                </a:solidFill>
                <a:latin typeface="Bernard MT Condensed" pitchFamily="18" charset="0"/>
                <a:ea typeface="HY엽서L" pitchFamily="18" charset="-127"/>
                <a:cs typeface="Adobe Naskh Medium" pitchFamily="50" charset="-78"/>
              </a:rPr>
            </a:br>
            <a:r>
              <a:rPr lang="en-US" altLang="ko-KR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  <a:cs typeface="Adobe Naskh Medium" pitchFamily="50" charset="-78"/>
              </a:rPr>
              <a:t>10/31 </a:t>
            </a:r>
            <a:r>
              <a:rPr lang="ko-KR" altLang="en-US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  <a:cs typeface="Adobe Naskh Medium" pitchFamily="50" charset="-78"/>
              </a:rPr>
              <a:t>신나게 즐겨보자</a:t>
            </a:r>
            <a:r>
              <a:rPr lang="en-US" altLang="ko-KR" sz="4000" dirty="0" smtClean="0">
                <a:solidFill>
                  <a:schemeClr val="bg1"/>
                </a:solidFill>
                <a:latin typeface="DX경필고딕B" pitchFamily="2" charset="-127"/>
                <a:ea typeface="DX경필고딕B" pitchFamily="2" charset="-127"/>
                <a:cs typeface="Adobe Naskh Medium" pitchFamily="50" charset="-78"/>
              </a:rPr>
              <a:t>!</a:t>
            </a:r>
            <a:endParaRPr lang="ko-KR" altLang="en-US" sz="4000" dirty="0">
              <a:solidFill>
                <a:schemeClr val="bg1"/>
              </a:solidFill>
              <a:latin typeface="DX경필고딕B" pitchFamily="2" charset="-127"/>
              <a:ea typeface="DX경필고딕B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277</Words>
  <Application>Microsoft Office PowerPoint</Application>
  <PresentationFormat>화면 슬라이드 쇼(4:3)</PresentationFormat>
  <Paragraphs>16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   10/31  “Halloween”  근데 Halloween 이 뭐지?</vt:lpstr>
      <vt:lpstr>Halloween</vt:lpstr>
      <vt:lpstr>“Halloween”에는 뭐하지?</vt:lpstr>
      <vt:lpstr>슬라이드 4</vt:lpstr>
      <vt:lpstr>3.Halloween Parade</vt:lpstr>
      <vt:lpstr>Halloween은 어디서 시작됐을까?</vt:lpstr>
      <vt:lpstr>국내에는 무슨 축제가 있을까?</vt:lpstr>
      <vt:lpstr>슬라이드 8</vt:lpstr>
      <vt:lpstr>10/26 중간고사 시험 끝나고   “Halloween”  10/31 신나게 즐겨보자!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洪至海</dc:creator>
  <cp:lastModifiedBy>洪至海</cp:lastModifiedBy>
  <cp:revision>15</cp:revision>
  <dcterms:created xsi:type="dcterms:W3CDTF">2017-10-22T07:24:46Z</dcterms:created>
  <dcterms:modified xsi:type="dcterms:W3CDTF">2017-10-22T09:39:10Z</dcterms:modified>
</cp:coreProperties>
</file>